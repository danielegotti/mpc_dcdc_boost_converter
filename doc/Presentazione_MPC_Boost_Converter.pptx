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12192000" cy="6858000"/>
  <p:embeddedFontLst>
    <p:embeddedFont>
      <p:font typeface="Libre Franklin Medium"/>
      <p:regular r:id="rId27"/>
      <p:bold r:id="rId28"/>
      <p:italic r:id="rId29"/>
      <p:boldItalic r:id="rId30"/>
    </p:embeddedFont>
    <p:embeddedFont>
      <p:font typeface="Arial Black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jUKr7aVa6RNGq3VfmfGQ9qgr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ibreFranklinMedium-bold.fntdata"/><Relationship Id="rId27" Type="http://schemas.openxmlformats.org/officeDocument/2006/relationships/font" Target="fonts/LibreFranklin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Black-regular.fntdata"/><Relationship Id="rId30" Type="http://schemas.openxmlformats.org/officeDocument/2006/relationships/font" Target="fonts/LibreFranklin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4f881237_1_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54f881237_1_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4f881237_1_2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54f881237_1_2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4f881237_1_7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54f881237_1_7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4f881237_0_8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54f881237_0_8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4f881237_0_10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54f881237_0_10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54f881237_1_8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54f881237_1_8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54f881237_1_9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54f881237_1_9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54f881237_1_11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54f881237_1_11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54f881237_0_12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54f881237_0_12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1284024" y="2064003"/>
            <a:ext cx="9448165" cy="260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762000" y="3"/>
            <a:ext cx="2564130" cy="127000"/>
          </a:xfrm>
          <a:custGeom>
            <a:rect b="b" l="l" r="r" t="t"/>
            <a:pathLst>
              <a:path extrusionOk="0" h="127000" w="2564129">
                <a:moveTo>
                  <a:pt x="2563990" y="0"/>
                </a:moveTo>
                <a:lnTo>
                  <a:pt x="0" y="0"/>
                </a:lnTo>
                <a:lnTo>
                  <a:pt x="0" y="126996"/>
                </a:lnTo>
                <a:lnTo>
                  <a:pt x="2563990" y="126996"/>
                </a:lnTo>
                <a:lnTo>
                  <a:pt x="2563990" y="0"/>
                </a:lnTo>
                <a:close/>
              </a:path>
            </a:pathLst>
          </a:custGeom>
          <a:solidFill>
            <a:srgbClr val="CA674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" name="Google Shape;1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096000"/>
            <a:ext cx="12191998" cy="76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 txBox="1"/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1284024" y="2064003"/>
            <a:ext cx="9448165" cy="260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164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8605154" y="4343408"/>
            <a:ext cx="3434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26EB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Students</a:t>
            </a:r>
            <a:endParaRPr sz="1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Gotti Daniele - 1079011</a:t>
            </a:r>
            <a:endParaRPr sz="16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8607347" y="2743200"/>
            <a:ext cx="1374853" cy="663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C96643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Controllo Avanzato Multivariabile</a:t>
            </a:r>
            <a:endParaRPr sz="14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2" name="Google Shape;52;p1"/>
          <p:cNvSpPr txBox="1"/>
          <p:nvPr>
            <p:ph type="title"/>
          </p:nvPr>
        </p:nvSpPr>
        <p:spPr>
          <a:xfrm>
            <a:off x="853566" y="2560827"/>
            <a:ext cx="6456190" cy="997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MPC PER UN DC-DC BOOST CONVERTER</a:t>
            </a:r>
            <a:br>
              <a:rPr b="0" lang="en-GB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853566" y="4343400"/>
            <a:ext cx="3559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A.A. 2025/2026</a:t>
            </a:r>
            <a:endParaRPr sz="24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8605154" y="4791016"/>
            <a:ext cx="3434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Motta Riccardo - 1093277</a:t>
            </a:r>
            <a:endParaRPr sz="16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777240" y="384048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Il problema</a:t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77240" y="1325880"/>
            <a:ext cx="53949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 convertitori DC-DC</a:t>
            </a:r>
            <a:r>
              <a:rPr b="0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regolano il flusso di energia tra due sistemi in corrente continua: alimentatori, veicoli elettrici e ibridi, impianti solari, azionamenti DC.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Nel convertitore </a:t>
            </a:r>
            <a:r>
              <a:rPr b="1" i="0" lang="en-GB" sz="15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boost</a:t>
            </a:r>
            <a:r>
              <a:rPr b="0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considerato, la tensione di uscita ha </a:t>
            </a:r>
            <a:r>
              <a:rPr b="1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segno opposto</a:t>
            </a:r>
            <a:r>
              <a:rPr b="0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rispetto a quella di ingresso.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sz="1500">
                <a:solidFill>
                  <a:schemeClr val="dk2"/>
                </a:solidFill>
              </a:rPr>
              <a:t>Obiettivo di controllo: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22222"/>
                </a:solidFill>
              </a:rPr>
              <a:t>R</a:t>
            </a:r>
            <a:r>
              <a:rPr b="0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egolare la tensione di uscita </a:t>
            </a:r>
            <a:r>
              <a:rPr b="1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ₒ</a:t>
            </a:r>
            <a:r>
              <a:rPr b="0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agendo sul duty cycle </a:t>
            </a:r>
            <a:r>
              <a:rPr b="1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baseline="-25000" lang="en-GB" sz="1500">
                <a:solidFill>
                  <a:srgbClr val="222222"/>
                </a:solidFill>
              </a:rPr>
              <a:t>C</a:t>
            </a:r>
            <a:r>
              <a:rPr b="0" i="0" lang="en-GB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 la frazione del periodo in cui il transistor è acceso.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sz="14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Stati: </a:t>
            </a:r>
            <a:r>
              <a:rPr b="0" i="0" lang="en-GB" sz="14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corrente di induttore i</a:t>
            </a:r>
            <a:r>
              <a:rPr b="0" baseline="-25000" i="0" lang="en-GB" sz="14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GB" sz="14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, tensione di uscita </a:t>
            </a:r>
            <a:r>
              <a:rPr b="0" i="0" lang="en-GB" sz="14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vₒ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GB" sz="14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Ingresso: </a:t>
            </a:r>
            <a:r>
              <a:rPr b="0" i="0" lang="en-GB" sz="14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duty cycle d</a:t>
            </a:r>
            <a:r>
              <a:rPr baseline="-25000" lang="en-GB">
                <a:solidFill>
                  <a:srgbClr val="5A6572"/>
                </a:solidFill>
              </a:rPr>
              <a:t>C</a:t>
            </a:r>
            <a:endParaRPr baseline="-25000"/>
          </a:p>
        </p:txBody>
      </p:sp>
      <p:sp>
        <p:nvSpPr>
          <p:cNvPr id="61" name="Google Shape;61;p2"/>
          <p:cNvSpPr/>
          <p:nvPr/>
        </p:nvSpPr>
        <p:spPr>
          <a:xfrm>
            <a:off x="7493000" y="1207000"/>
            <a:ext cx="3724800" cy="21330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94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825" lIns="67725" spcFirstLastPara="1" rIns="67725" wrap="square" tIns="3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7"/>
          </a:p>
        </p:txBody>
      </p:sp>
      <p:pic>
        <p:nvPicPr>
          <p:cNvPr descr="circuit_0.png"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296" y="1381681"/>
            <a:ext cx="3385914" cy="164832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7493000" y="3116658"/>
            <a:ext cx="37248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15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Schema del DC-DC boost converter</a:t>
            </a:r>
            <a:endParaRPr sz="1037"/>
          </a:p>
        </p:txBody>
      </p:sp>
      <p:sp>
        <p:nvSpPr>
          <p:cNvPr id="64" name="Google Shape;64;p2"/>
          <p:cNvSpPr/>
          <p:nvPr/>
        </p:nvSpPr>
        <p:spPr>
          <a:xfrm>
            <a:off x="777250" y="4892050"/>
            <a:ext cx="1947600" cy="480000"/>
          </a:xfrm>
          <a:prstGeom prst="roundRect">
            <a:avLst>
              <a:gd fmla="val 12000" name="adj"/>
            </a:avLst>
          </a:prstGeom>
          <a:solidFill>
            <a:srgbClr val="1B3A5F"/>
          </a:solidFill>
          <a:ln>
            <a:noFill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 = 0.65 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9D6E6"/>
                </a:solidFill>
                <a:latin typeface="Arial"/>
                <a:ea typeface="Arial"/>
                <a:cs typeface="Arial"/>
                <a:sym typeface="Arial"/>
              </a:rPr>
              <a:t>Tempo di campionamento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953519" y="4892050"/>
            <a:ext cx="1947600" cy="480000"/>
          </a:xfrm>
          <a:prstGeom prst="roundRect">
            <a:avLst>
              <a:gd fmla="val 12000" name="adj"/>
            </a:avLst>
          </a:prstGeom>
          <a:solidFill>
            <a:srgbClr val="1B3A5F"/>
          </a:solidFill>
          <a:ln>
            <a:noFill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 = 4.2 mH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9D6E6"/>
                </a:solidFill>
                <a:latin typeface="Arial"/>
                <a:ea typeface="Arial"/>
                <a:cs typeface="Arial"/>
                <a:sym typeface="Arial"/>
              </a:rPr>
              <a:t>Induttanza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129812" y="4892050"/>
            <a:ext cx="1947600" cy="480000"/>
          </a:xfrm>
          <a:prstGeom prst="roundRect">
            <a:avLst>
              <a:gd fmla="val 12000" name="adj"/>
            </a:avLst>
          </a:prstGeom>
          <a:solidFill>
            <a:srgbClr val="1B3A5F"/>
          </a:solidFill>
          <a:ln>
            <a:noFill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 = 2200 µF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9D6E6"/>
                </a:solidFill>
                <a:latin typeface="Arial"/>
                <a:ea typeface="Arial"/>
                <a:cs typeface="Arial"/>
                <a:sym typeface="Arial"/>
              </a:rPr>
              <a:t>Capacità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865393" y="5479225"/>
            <a:ext cx="1947600" cy="480000"/>
          </a:xfrm>
          <a:prstGeom prst="roundRect">
            <a:avLst>
              <a:gd fmla="val 12000" name="adj"/>
            </a:avLst>
          </a:prstGeom>
          <a:solidFill>
            <a:srgbClr val="1B3A5F"/>
          </a:solidFill>
          <a:ln>
            <a:noFill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 = 85 Ω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9D6E6"/>
                </a:solidFill>
                <a:latin typeface="Arial"/>
                <a:ea typeface="Arial"/>
                <a:cs typeface="Arial"/>
                <a:sym typeface="Arial"/>
              </a:rPr>
              <a:t>Resistenza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041663" y="5479225"/>
            <a:ext cx="1947600" cy="480000"/>
          </a:xfrm>
          <a:prstGeom prst="roundRect">
            <a:avLst>
              <a:gd fmla="val 12000" name="adj"/>
            </a:avLst>
          </a:prstGeom>
          <a:solidFill>
            <a:srgbClr val="1B3A5F"/>
          </a:solidFill>
          <a:ln>
            <a:noFill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aseline="-2500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</a:t>
            </a:r>
            <a:r>
              <a:rPr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= 15 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9D6E6"/>
                </a:solidFill>
                <a:latin typeface="Arial"/>
                <a:ea typeface="Arial"/>
                <a:cs typeface="Arial"/>
                <a:sym typeface="Arial"/>
              </a:rPr>
              <a:t>Tensione di ingresso</a:t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493000" y="3773900"/>
            <a:ext cx="3724800" cy="2133000"/>
          </a:xfrm>
          <a:prstGeom prst="roundRect">
            <a:avLst>
              <a:gd fmla="val 5500" name="adj"/>
            </a:avLst>
          </a:prstGeom>
          <a:solidFill>
            <a:schemeClr val="dk1"/>
          </a:solidFill>
          <a:ln cap="flat" cmpd="sng" w="94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825" lIns="67725" spcFirstLastPara="1" rIns="67725" wrap="square" tIns="3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7"/>
          </a:p>
        </p:txBody>
      </p:sp>
      <p:pic>
        <p:nvPicPr>
          <p:cNvPr id="70" name="Google Shape;70;p2" title="VideoGIF.gif"/>
          <p:cNvPicPr preferRelativeResize="0"/>
          <p:nvPr/>
        </p:nvPicPr>
        <p:blipFill rotWithShape="1">
          <a:blip r:embed="rId4">
            <a:alphaModFix/>
          </a:blip>
          <a:srcRect b="11338" l="2531" r="2664" t="14169"/>
          <a:stretch/>
        </p:blipFill>
        <p:spPr>
          <a:xfrm>
            <a:off x="7587100" y="4089750"/>
            <a:ext cx="3531525" cy="15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777240" y="384048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Modello e vincoli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77250" y="1325875"/>
            <a:ext cx="6126600" cy="28209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274300" spcFirstLastPara="1" rIns="274300" wrap="square" tIns="20115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Dinamica non lineare a tempo discreto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A6572"/>
                </a:solidFill>
              </a:rPr>
              <a:t>Il modello è formulato direttamente in </a:t>
            </a:r>
            <a:r>
              <a:rPr b="1" lang="en-GB" sz="1350">
                <a:solidFill>
                  <a:srgbClr val="5A6572"/>
                </a:solidFill>
              </a:rPr>
              <a:t>tempo discreto</a:t>
            </a:r>
            <a:r>
              <a:rPr lang="en-GB" sz="1350">
                <a:solidFill>
                  <a:srgbClr val="5A6572"/>
                </a:solidFill>
              </a:rPr>
              <a:t>: a differenza di un sistema continuo, non richiede l'uso di metodi di discretizzazione (come Eulero) per l'implementazione dell'MPC.</a:t>
            </a:r>
            <a:endParaRPr sz="1350">
              <a:solidFill>
                <a:srgbClr val="5A6572"/>
              </a:solidFill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777240" y="4297680"/>
            <a:ext cx="61266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Perché i vincoli contano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lang="en-GB">
                <a:solidFill>
                  <a:schemeClr val="dk1"/>
                </a:solidFill>
              </a:rPr>
              <a:t>Corrente e tensione fuori intervallo possono danneggiare il convertitore; anche il duty cycle è limitato fisicamente.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lang="en-GB">
                <a:solidFill>
                  <a:schemeClr val="dk1"/>
                </a:solidFill>
              </a:rPr>
              <a:t>L'MPC consente di ottimizzare le prestazioni garantendo il rispetto dei vincoli su stati e ingresso a ogni istante.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315200" y="1325880"/>
            <a:ext cx="4114800" cy="137160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463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Corrente di induttore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GB" sz="1900">
                <a:solidFill>
                  <a:srgbClr val="1B3A5F"/>
                </a:solidFill>
                <a:latin typeface="Arial Black"/>
                <a:ea typeface="Arial Black"/>
                <a:cs typeface="Arial Black"/>
                <a:sym typeface="Arial Black"/>
              </a:rPr>
              <a:t>−1.6 ≤ i</a:t>
            </a:r>
            <a:r>
              <a:rPr baseline="-25000" lang="en-GB" sz="1900">
                <a:solidFill>
                  <a:srgbClr val="1B3A5F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b="0" i="0" lang="en-GB" sz="1900">
                <a:solidFill>
                  <a:srgbClr val="1B3A5F"/>
                </a:solidFill>
                <a:latin typeface="Arial Black"/>
                <a:ea typeface="Arial Black"/>
                <a:cs typeface="Arial Black"/>
                <a:sym typeface="Arial Black"/>
              </a:rPr>
              <a:t> ≤ 2.4 A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315200" y="2898648"/>
            <a:ext cx="4114800" cy="137160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463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Tensione di uscita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GB" sz="1900">
                <a:solidFill>
                  <a:srgbClr val="1B3A5F"/>
                </a:solidFill>
                <a:latin typeface="Arial Black"/>
                <a:ea typeface="Arial Black"/>
                <a:cs typeface="Arial Black"/>
                <a:sym typeface="Arial Black"/>
              </a:rPr>
              <a:t>−19 ≤ vₒ ≤ −13 V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315200" y="4471416"/>
            <a:ext cx="4114800" cy="137160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463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Duty cycle (ingresso)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GB" sz="1900">
                <a:solidFill>
                  <a:srgbClr val="1B3A5F"/>
                </a:solidFill>
                <a:latin typeface="Arial Black"/>
                <a:ea typeface="Arial Black"/>
                <a:cs typeface="Arial Black"/>
                <a:sym typeface="Arial Black"/>
              </a:rPr>
              <a:t>0.3 ≤ d</a:t>
            </a:r>
            <a:r>
              <a:rPr baseline="-25000" lang="en-GB" sz="1900">
                <a:solidFill>
                  <a:srgbClr val="1B3A5F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GB" sz="1900">
                <a:solidFill>
                  <a:srgbClr val="1B3A5F"/>
                </a:solidFill>
                <a:latin typeface="Arial Black"/>
                <a:ea typeface="Arial Black"/>
                <a:cs typeface="Arial Black"/>
                <a:sym typeface="Arial Black"/>
              </a:rPr>
              <a:t> ≤ 0.75</a:t>
            </a:r>
            <a:endParaRPr/>
          </a:p>
        </p:txBody>
      </p:sp>
      <p:pic>
        <p:nvPicPr>
          <p:cNvPr id="81" name="Google Shape;8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24" y="1903762"/>
            <a:ext cx="4623550" cy="11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777240" y="384048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Obiettivo del progetto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777250" y="1325875"/>
            <a:ext cx="10865400" cy="1691700"/>
          </a:xfrm>
          <a:prstGeom prst="roundRect">
            <a:avLst>
              <a:gd fmla="val 5500" name="adj"/>
            </a:avLst>
          </a:prstGeom>
          <a:solidFill>
            <a:srgbClr val="1B3A5F"/>
          </a:solidFill>
          <a:ln>
            <a:noFill/>
          </a:ln>
        </p:spPr>
        <p:txBody>
          <a:bodyPr anchorCtr="0" anchor="ctr" bIns="45700" lIns="365750" spcFirstLastPara="1" rIns="365750" wrap="square" tIns="4570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Portare il sistema dalla condizione iniziale  </a:t>
            </a:r>
            <a:r>
              <a:rPr b="1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(i</a:t>
            </a:r>
            <a:r>
              <a:rPr b="1" baseline="-25000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b="1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⁰, vₒ⁰) = (2.3 A, −13.5 V)</a:t>
            </a:r>
            <a:r>
              <a:rPr b="0" i="0" lang="en-GB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all'equilibrio  </a:t>
            </a:r>
            <a:r>
              <a:rPr b="1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(ī</a:t>
            </a:r>
            <a:r>
              <a:rPr b="1" baseline="-25000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b="1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, v̄ₒ) = (0.389 A, −16</a:t>
            </a:r>
            <a:r>
              <a:rPr b="1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V)</a:t>
            </a:r>
            <a:r>
              <a:rPr b="0" i="0" lang="en-GB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con ingresso di equilibrio  </a:t>
            </a:r>
            <a:r>
              <a:rPr b="1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d̄</a:t>
            </a:r>
            <a:r>
              <a:rPr b="1" baseline="-25000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1" i="0" lang="en-GB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= 0.516</a:t>
            </a:r>
            <a:r>
              <a:rPr b="0" i="0" lang="en-GB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 rispettando sempre i vincoli.</a:t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777240" y="3291839"/>
            <a:ext cx="10652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Confronti richiesti sulle prestazioni del controllore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77240" y="3840480"/>
            <a:ext cx="2457450" cy="132588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64575" spcFirstLastPara="1" rIns="164575" wrap="square" tIns="1280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>
                <a:solidFill>
                  <a:srgbClr val="C9664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i="0" lang="en-GB" sz="135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  Ingredienti terminali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A6572"/>
                </a:solidFill>
              </a:rPr>
              <a:t>V</a:t>
            </a: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incolo di </a:t>
            </a:r>
            <a:r>
              <a:rPr lang="en-GB" sz="1200">
                <a:solidFill>
                  <a:srgbClr val="5A6572"/>
                </a:solidFill>
              </a:rPr>
              <a:t>disuguaglianza</a:t>
            </a: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200">
                <a:solidFill>
                  <a:srgbClr val="5A6572"/>
                </a:solidFill>
              </a:rPr>
              <a:t>v</a:t>
            </a: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incolo di uguaglianza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509010" y="3840480"/>
            <a:ext cx="2457450" cy="132588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64575" spcFirstLastPara="1" rIns="164575" wrap="square" tIns="1280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>
                <a:solidFill>
                  <a:srgbClr val="C9664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i="0" lang="en-GB" sz="135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  Pesi del costo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A6572"/>
                </a:solidFill>
              </a:rPr>
              <a:t>M</a:t>
            </a: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atrici Q ed R del costo quadratico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240779" y="3840480"/>
            <a:ext cx="2457450" cy="132588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64575" spcFirstLastPara="1" rIns="164575" wrap="square" tIns="1280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>
                <a:solidFill>
                  <a:srgbClr val="C9664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i="0" lang="en-GB" sz="135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  Orizzonte N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A6572"/>
                </a:solidFill>
              </a:rPr>
              <a:t>O</a:t>
            </a: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rizzonte di predizione dell'MPC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8972550" y="3840475"/>
            <a:ext cx="2579100" cy="132600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64575" spcFirstLastPara="1" rIns="164575" wrap="square" tIns="1280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>
                <a:solidFill>
                  <a:srgbClr val="C9664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i="0" lang="en-GB" sz="135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  Tempo di campionamento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T ≥ 0.65 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Metodo - Formulazione dell'MPC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77250" y="1174050"/>
            <a:ext cx="10607100" cy="47385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256025" spcFirstLastPara="1" rIns="256025" wrap="square" tIns="18287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1" lang="en-GB" sz="1600">
                <a:solidFill>
                  <a:srgbClr val="1B3A5F"/>
                </a:solidFill>
              </a:rPr>
              <a:t>-</a:t>
            </a: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Linearizzazione attorno all'equilibrio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A657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A657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lang="en-GB" sz="1600">
                <a:solidFill>
                  <a:srgbClr val="1B3A5F"/>
                </a:solidFill>
              </a:rPr>
              <a:t>-</a:t>
            </a: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Controllo ottimo su orizzonte N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5A657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5A657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sz="135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Baseline: </a:t>
            </a:r>
            <a:r>
              <a:rPr b="0" i="0" lang="en-GB" sz="135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Q = I, R = 1, N = 20, T = 0.65 ms, simulazione di 60 passi (39 ms).</a:t>
            </a:r>
            <a:endParaRPr/>
          </a:p>
        </p:txBody>
      </p:sp>
      <p:pic>
        <p:nvPicPr>
          <p:cNvPr id="99" name="Google Shape;99;p5" title="a.png"/>
          <p:cNvPicPr preferRelativeResize="0"/>
          <p:nvPr/>
        </p:nvPicPr>
        <p:blipFill rotWithShape="1">
          <a:blip r:embed="rId3">
            <a:alphaModFix/>
          </a:blip>
          <a:srcRect b="1784" l="0" r="0" t="1784"/>
          <a:stretch/>
        </p:blipFill>
        <p:spPr>
          <a:xfrm>
            <a:off x="1246025" y="1812900"/>
            <a:ext cx="2182976" cy="89743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" name="Google Shape;10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5950" y="1812895"/>
            <a:ext cx="1496084" cy="7924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6025" y="3352950"/>
            <a:ext cx="3542925" cy="1669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4f881237_1_2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Metodo - Formulazione dell'MPC</a:t>
            </a:r>
            <a:endParaRPr/>
          </a:p>
        </p:txBody>
      </p:sp>
      <p:sp>
        <p:nvSpPr>
          <p:cNvPr id="107" name="Google Shape;107;g3f54f881237_1_2"/>
          <p:cNvSpPr/>
          <p:nvPr/>
        </p:nvSpPr>
        <p:spPr>
          <a:xfrm>
            <a:off x="777250" y="1174050"/>
            <a:ext cx="10652700" cy="47385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12700">
            <a:solidFill>
              <a:srgbClr val="E7CD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256025" spcFirstLastPara="1" rIns="256025" wrap="square" tIns="18287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1" lang="en-GB" sz="1600">
                <a:solidFill>
                  <a:srgbClr val="C96643"/>
                </a:solidFill>
              </a:rPr>
              <a:t>-</a:t>
            </a:r>
            <a:r>
              <a:rPr b="1" i="0" lang="en-GB" sz="16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 Riduzione a QP condensato</a:t>
            </a:r>
            <a:endParaRPr/>
          </a:p>
          <a:p>
            <a:pPr indent="-314325" lvl="0" marL="45720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50"/>
              <a:buChar char="●"/>
            </a:pPr>
            <a:r>
              <a:rPr lang="en-GB" sz="1350">
                <a:solidFill>
                  <a:srgbClr val="222222"/>
                </a:solidFill>
              </a:rPr>
              <a:t>Definizione della dinamica del sistema</a:t>
            </a:r>
            <a:r>
              <a:rPr b="0" i="0" lang="en-GB" sz="13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g3f54f881237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625" y="2669850"/>
            <a:ext cx="1590600" cy="298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g3f54f881237_1_2"/>
          <p:cNvSpPr txBox="1"/>
          <p:nvPr/>
        </p:nvSpPr>
        <p:spPr>
          <a:xfrm>
            <a:off x="3178375" y="2637050"/>
            <a:ext cx="7632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dove</a:t>
            </a:r>
            <a:endParaRPr sz="1350">
              <a:solidFill>
                <a:schemeClr val="dk1"/>
              </a:solidFill>
            </a:endParaRPr>
          </a:p>
        </p:txBody>
      </p:sp>
      <p:pic>
        <p:nvPicPr>
          <p:cNvPr id="110" name="Google Shape;110;g3f54f881237_1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9150" y="2196901"/>
            <a:ext cx="1028900" cy="136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g3f54f881237_1_2"/>
          <p:cNvSpPr txBox="1"/>
          <p:nvPr/>
        </p:nvSpPr>
        <p:spPr>
          <a:xfrm>
            <a:off x="5699075" y="2637050"/>
            <a:ext cx="520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e</a:t>
            </a:r>
            <a:endParaRPr sz="1350">
              <a:solidFill>
                <a:schemeClr val="dk1"/>
              </a:solidFill>
            </a:endParaRPr>
          </a:p>
        </p:txBody>
      </p:sp>
      <p:pic>
        <p:nvPicPr>
          <p:cNvPr id="112" name="Google Shape;112;g3f54f881237_1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8883" y="2176022"/>
            <a:ext cx="2613041" cy="13321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g3f54f881237_1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2475" y="3808249"/>
            <a:ext cx="2067394" cy="909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g3f54f881237_1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6776" y="3801836"/>
            <a:ext cx="851775" cy="922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g3f54f881237_1_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7463" y="4844048"/>
            <a:ext cx="2082413" cy="868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g3f54f881237_1_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86763" y="4823438"/>
            <a:ext cx="851787" cy="909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g3f54f881237_1_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17025" y="5118525"/>
            <a:ext cx="938325" cy="3192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g3f54f881237_1_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17025" y="4098125"/>
            <a:ext cx="1028900" cy="3296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g3f54f881237_1_2"/>
          <p:cNvSpPr txBox="1"/>
          <p:nvPr/>
        </p:nvSpPr>
        <p:spPr>
          <a:xfrm>
            <a:off x="1022525" y="3454925"/>
            <a:ext cx="33633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GB" sz="1350">
                <a:solidFill>
                  <a:schemeClr val="dk1"/>
                </a:solidFill>
              </a:rPr>
              <a:t>Trasformazione dei vincoli: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120" name="Google Shape;120;g3f54f881237_1_2"/>
          <p:cNvSpPr txBox="1"/>
          <p:nvPr/>
        </p:nvSpPr>
        <p:spPr>
          <a:xfrm>
            <a:off x="3178375" y="4080688"/>
            <a:ext cx="7632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dove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121" name="Google Shape;121;g3f54f881237_1_2"/>
          <p:cNvSpPr txBox="1"/>
          <p:nvPr/>
        </p:nvSpPr>
        <p:spPr>
          <a:xfrm>
            <a:off x="6700488" y="4080700"/>
            <a:ext cx="520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e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122" name="Google Shape;122;g3f54f881237_1_2"/>
          <p:cNvSpPr txBox="1"/>
          <p:nvPr/>
        </p:nvSpPr>
        <p:spPr>
          <a:xfrm>
            <a:off x="3178375" y="5095888"/>
            <a:ext cx="7632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dove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123" name="Google Shape;123;g3f54f881237_1_2"/>
          <p:cNvSpPr txBox="1"/>
          <p:nvPr/>
        </p:nvSpPr>
        <p:spPr>
          <a:xfrm>
            <a:off x="6700488" y="5095875"/>
            <a:ext cx="520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e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f881237_1_29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Metodo - Formulazione dell'MPC</a:t>
            </a:r>
            <a:endParaRPr/>
          </a:p>
        </p:txBody>
      </p:sp>
      <p:sp>
        <p:nvSpPr>
          <p:cNvPr id="129" name="Google Shape;129;g3f54f881237_1_29"/>
          <p:cNvSpPr/>
          <p:nvPr/>
        </p:nvSpPr>
        <p:spPr>
          <a:xfrm>
            <a:off x="777250" y="1174050"/>
            <a:ext cx="10652700" cy="47385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12700">
            <a:solidFill>
              <a:srgbClr val="E7CD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256025" spcFirstLastPara="1" rIns="256025" wrap="square" tIns="182875">
            <a:noAutofit/>
          </a:bodyPr>
          <a:lstStyle/>
          <a:p>
            <a:pPr indent="-314325" lvl="0" marL="45720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50"/>
              <a:buChar char="●"/>
            </a:pPr>
            <a:r>
              <a:rPr lang="en-GB" sz="1350">
                <a:solidFill>
                  <a:srgbClr val="222222"/>
                </a:solidFill>
              </a:rPr>
              <a:t>Trasformazione del costo</a:t>
            </a:r>
            <a:r>
              <a:rPr b="0" i="0" lang="en-GB" sz="13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g3f54f881237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451" y="1823587"/>
            <a:ext cx="1945373" cy="1172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g3f54f881237_1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5650" y="1915312"/>
            <a:ext cx="1772300" cy="9888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g3f54f881237_1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5650" y="2189500"/>
            <a:ext cx="1301900" cy="3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54f881237_1_29"/>
          <p:cNvSpPr txBox="1"/>
          <p:nvPr/>
        </p:nvSpPr>
        <p:spPr>
          <a:xfrm>
            <a:off x="3221900" y="2227475"/>
            <a:ext cx="7632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dove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134" name="Google Shape;134;g3f54f881237_1_29"/>
          <p:cNvSpPr txBox="1"/>
          <p:nvPr/>
        </p:nvSpPr>
        <p:spPr>
          <a:xfrm>
            <a:off x="7296100" y="2227475"/>
            <a:ext cx="520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</a:rPr>
              <a:t>e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135" name="Google Shape;135;g3f54f881237_1_29"/>
          <p:cNvSpPr/>
          <p:nvPr/>
        </p:nvSpPr>
        <p:spPr>
          <a:xfrm>
            <a:off x="1315650" y="3595133"/>
            <a:ext cx="3639600" cy="1482600"/>
          </a:xfrm>
          <a:prstGeom prst="roundRect">
            <a:avLst>
              <a:gd fmla="val 5500" name="adj"/>
            </a:avLst>
          </a:prstGeom>
          <a:solidFill>
            <a:srgbClr val="D3ECB8"/>
          </a:solidFill>
          <a:ln>
            <a:noFill/>
          </a:ln>
        </p:spPr>
        <p:txBody>
          <a:bodyPr anchorCtr="0" anchor="t" bIns="28475" lIns="57025" spcFirstLastPara="1" rIns="57025" wrap="square" tIns="2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3"/>
          </a:p>
        </p:txBody>
      </p:sp>
      <p:sp>
        <p:nvSpPr>
          <p:cNvPr id="136" name="Google Shape;136;g3f54f881237_1_29"/>
          <p:cNvSpPr txBox="1"/>
          <p:nvPr/>
        </p:nvSpPr>
        <p:spPr>
          <a:xfrm>
            <a:off x="1154650" y="5195000"/>
            <a:ext cx="102297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222222"/>
                </a:solidFill>
              </a:rPr>
              <a:t>Risolto online a ogni passo con </a:t>
            </a:r>
            <a:r>
              <a:rPr b="1" lang="en-GB" sz="13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quadprog</a:t>
            </a:r>
            <a:r>
              <a:rPr lang="en-GB" sz="1350">
                <a:solidFill>
                  <a:srgbClr val="222222"/>
                </a:solidFill>
              </a:rPr>
              <a:t>: si applica solo il primo ingresso della sequenza (receding horizon), poi si rimisura lo stato sull'impianto non lineare.</a:t>
            </a:r>
            <a:endParaRPr/>
          </a:p>
        </p:txBody>
      </p:sp>
      <p:pic>
        <p:nvPicPr>
          <p:cNvPr id="137" name="Google Shape;137;g3f54f881237_1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6582" y="3709521"/>
            <a:ext cx="3359064" cy="12636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38" name="Google Shape;138;g3f54f881237_1_29"/>
          <p:cNvSpPr txBox="1"/>
          <p:nvPr/>
        </p:nvSpPr>
        <p:spPr>
          <a:xfrm>
            <a:off x="1052625" y="3113350"/>
            <a:ext cx="4381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GB" sz="1350">
                <a:solidFill>
                  <a:schemeClr val="dk1"/>
                </a:solidFill>
              </a:rPr>
              <a:t>Struttura finale del problema quadratico:</a:t>
            </a:r>
            <a:endParaRPr sz="1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Metodo - Ingredienti terminali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77240" y="1325880"/>
            <a:ext cx="5120640" cy="3977639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256025" spcFirstLastPara="1" rIns="256025" wrap="square" tIns="18287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GB" sz="1600">
                <a:solidFill>
                  <a:srgbClr val="1B3A5F"/>
                </a:solidFill>
              </a:rPr>
              <a:t>-</a:t>
            </a: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Vincolo di disuguaglianza 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B3A5F"/>
                </a:solidFill>
              </a:rPr>
              <a:t>Condizione: </a:t>
            </a:r>
            <a:r>
              <a:rPr lang="en-GB" sz="1300">
                <a:solidFill>
                  <a:srgbClr val="222222"/>
                </a:solidFill>
              </a:rPr>
              <a:t>x(N) ∈ CIS, insieme invariante di controllo calcolato con legge LQR.</a:t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B3A5F"/>
                </a:solidFill>
              </a:rPr>
              <a:t>Costo terminale:</a:t>
            </a:r>
            <a:r>
              <a:rPr b="1" lang="en-GB" sz="1300">
                <a:solidFill>
                  <a:srgbClr val="C96643"/>
                </a:solidFill>
              </a:rPr>
              <a:t> </a:t>
            </a:r>
            <a:r>
              <a:rPr lang="en-GB" sz="1300">
                <a:solidFill>
                  <a:srgbClr val="222222"/>
                </a:solidFill>
              </a:rPr>
              <a:t>x(N)'·P·x(N), con P da Riccati.</a:t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300">
                <a:solidFill>
                  <a:srgbClr val="1B3A5F"/>
                </a:solidFill>
              </a:rPr>
              <a:t>Proprietà:</a:t>
            </a:r>
            <a:r>
              <a:rPr b="1" lang="en-GB" sz="1300">
                <a:solidFill>
                  <a:srgbClr val="C96643"/>
                </a:solidFill>
              </a:rPr>
              <a:t> </a:t>
            </a:r>
            <a:r>
              <a:rPr lang="en-GB" sz="1300">
                <a:solidFill>
                  <a:srgbClr val="222222"/>
                </a:solidFill>
              </a:rPr>
              <a:t>regione fattibile più ampia, basta che x(N) entri nel CIS, non nell'origine.</a:t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309359" y="1325880"/>
            <a:ext cx="5120640" cy="3977639"/>
          </a:xfrm>
          <a:prstGeom prst="roundRect">
            <a:avLst>
              <a:gd fmla="val 5500" name="adj"/>
            </a:avLst>
          </a:prstGeom>
          <a:solidFill>
            <a:srgbClr val="FAF0EB"/>
          </a:solidFill>
          <a:ln cap="flat" cmpd="sng" w="12700">
            <a:solidFill>
              <a:srgbClr val="E7CD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256025" spcFirstLastPara="1" rIns="256025" wrap="square" tIns="18287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1" lang="en-GB" sz="1600">
                <a:solidFill>
                  <a:srgbClr val="C96643"/>
                </a:solidFill>
              </a:rPr>
              <a:t>-</a:t>
            </a:r>
            <a:r>
              <a:rPr b="1" i="0" lang="en-GB" sz="16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600">
                <a:solidFill>
                  <a:srgbClr val="C96643"/>
                </a:solidFill>
              </a:rPr>
              <a:t>Vincolo di uguaglianza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300">
                <a:solidFill>
                  <a:srgbClr val="C96643"/>
                </a:solidFill>
              </a:rPr>
              <a:t>Con</a:t>
            </a:r>
            <a:r>
              <a:rPr b="1" lang="en-GB" sz="1300">
                <a:solidFill>
                  <a:srgbClr val="C96643"/>
                </a:solidFill>
              </a:rPr>
              <a:t>dizione:</a:t>
            </a:r>
            <a:r>
              <a:rPr b="1" lang="en-GB" sz="1300">
                <a:solidFill>
                  <a:srgbClr val="1B3A5F"/>
                </a:solidFill>
              </a:rPr>
              <a:t> </a:t>
            </a:r>
            <a:r>
              <a:rPr lang="en-GB" sz="1300">
                <a:solidFill>
                  <a:srgbClr val="222222"/>
                </a:solidFill>
              </a:rPr>
              <a:t>x(N) = 0, lo stato predetto deve raggiungere esattamente l'equilibrio.</a:t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300">
                <a:solidFill>
                  <a:srgbClr val="C96643"/>
                </a:solidFill>
              </a:rPr>
              <a:t>Costo terminale:</a:t>
            </a:r>
            <a:r>
              <a:rPr b="1" lang="en-GB" sz="1300">
                <a:solidFill>
                  <a:srgbClr val="1B3A5F"/>
                </a:solidFill>
              </a:rPr>
              <a:t> </a:t>
            </a:r>
            <a:r>
              <a:rPr lang="en-GB" sz="1300">
                <a:solidFill>
                  <a:srgbClr val="222222"/>
                </a:solidFill>
              </a:rPr>
              <a:t>nessuno.</a:t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300">
                <a:solidFill>
                  <a:srgbClr val="C96643"/>
                </a:solidFill>
              </a:rPr>
              <a:t>Proprietà: </a:t>
            </a:r>
            <a:r>
              <a:rPr lang="en-GB" sz="1300">
                <a:solidFill>
                  <a:srgbClr val="222222"/>
                </a:solidFill>
              </a:rPr>
              <a:t>garanzie semplici, ma richiede un orizzonte N abbastanza lungo per essere fattibile.</a:t>
            </a:r>
            <a:endParaRPr sz="1300">
              <a:solidFill>
                <a:srgbClr val="222222"/>
              </a:solidFill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777240" y="5532120"/>
            <a:ext cx="106527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5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Fattibilità iniziale verificata con l'</a:t>
            </a:r>
            <a:r>
              <a:rPr b="1" i="0" lang="en-GB" sz="135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N-step controllable set</a:t>
            </a:r>
            <a:r>
              <a:rPr lang="en-GB" sz="1350">
                <a:solidFill>
                  <a:srgbClr val="5A6572"/>
                </a:solidFill>
              </a:rPr>
              <a:t>:</a:t>
            </a:r>
            <a:r>
              <a:rPr b="0" i="0" lang="en-GB" sz="135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 insieme degli stati che possono raggiungere il target (origine o CIS) in N passi rispettando i vincoli.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Insiemi - CIS e N-step controllable set</a:t>
            </a:r>
            <a:endParaRPr/>
          </a:p>
        </p:txBody>
      </p:sp>
      <p:pic>
        <p:nvPicPr>
          <p:cNvPr descr="2.png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848" y="1252362"/>
            <a:ext cx="3266704" cy="288036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7"/>
          <p:cNvSpPr txBox="1"/>
          <p:nvPr/>
        </p:nvSpPr>
        <p:spPr>
          <a:xfrm>
            <a:off x="1956037" y="4287655"/>
            <a:ext cx="3520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CIS e 20-step controllable set </a:t>
            </a:r>
            <a:r>
              <a:rPr i="1" lang="en-GB" sz="1100">
                <a:solidFill>
                  <a:schemeClr val="dk2"/>
                </a:solidFill>
              </a:rPr>
              <a:t>(variante A)</a:t>
            </a:r>
            <a:endParaRPr/>
          </a:p>
        </p:txBody>
      </p:sp>
      <p:pic>
        <p:nvPicPr>
          <p:cNvPr descr="2.png"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9275" y="1307138"/>
            <a:ext cx="4179448" cy="2880375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7"/>
          <p:cNvSpPr txBox="1"/>
          <p:nvPr/>
        </p:nvSpPr>
        <p:spPr>
          <a:xfrm>
            <a:off x="6208758" y="4287655"/>
            <a:ext cx="3520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20-step controllable set dell'origine </a:t>
            </a:r>
            <a:r>
              <a:rPr i="1" lang="en-GB" sz="1100">
                <a:solidFill>
                  <a:srgbClr val="C96643"/>
                </a:solidFill>
              </a:rPr>
              <a:t>(variante B)</a:t>
            </a:r>
            <a:endParaRPr i="1" sz="1100">
              <a:solidFill>
                <a:srgbClr val="C96643"/>
              </a:solidFill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777240" y="4846320"/>
            <a:ext cx="10652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Il CIS copre gran parte dell'insieme dei vincoli: una volta dentro, la legge LQR li rispetta per sempre.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Entrambi gli N-step </a:t>
            </a:r>
            <a:r>
              <a:rPr lang="en-GB">
                <a:solidFill>
                  <a:srgbClr val="222222"/>
                </a:solidFill>
              </a:rPr>
              <a:t>sono uguali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i due MPC sono </a:t>
            </a:r>
            <a:r>
              <a:rPr b="1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fattibili dal punto di partenza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777250" y="5509350"/>
            <a:ext cx="911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5A6572"/>
                </a:solidFill>
              </a:rPr>
              <a:t>Baseline: </a:t>
            </a:r>
            <a:r>
              <a:rPr lang="en-GB" sz="1350">
                <a:solidFill>
                  <a:srgbClr val="5A6572"/>
                </a:solidFill>
              </a:rPr>
              <a:t>Q = I, R = 1, N = 20, T = 0.65 ms, simulazione di 60 passi (39 ms).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Risultati - Traiettorie di stato</a:t>
            </a:r>
            <a:endParaRPr/>
          </a:p>
        </p:txBody>
      </p:sp>
      <p:pic>
        <p:nvPicPr>
          <p:cNvPr descr="3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75" y="1325875"/>
            <a:ext cx="4136936" cy="35765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" name="Google Shape;164;p8"/>
          <p:cNvSpPr txBox="1"/>
          <p:nvPr/>
        </p:nvSpPr>
        <p:spPr>
          <a:xfrm>
            <a:off x="777240" y="5166360"/>
            <a:ext cx="502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Variante </a:t>
            </a:r>
            <a:r>
              <a:rPr i="1" lang="en-GB" sz="1100">
                <a:solidFill>
                  <a:schemeClr val="dk2"/>
                </a:solidFill>
              </a:rPr>
              <a:t>A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 costo terminale + CIS (N = 20)</a:t>
            </a:r>
            <a:endParaRPr/>
          </a:p>
        </p:txBody>
      </p:sp>
      <p:pic>
        <p:nvPicPr>
          <p:cNvPr descr="3.png"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575" y="1465250"/>
            <a:ext cx="5150750" cy="348625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8"/>
          <p:cNvSpPr txBox="1"/>
          <p:nvPr/>
        </p:nvSpPr>
        <p:spPr>
          <a:xfrm>
            <a:off x="6309360" y="5166360"/>
            <a:ext cx="502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Variante </a:t>
            </a:r>
            <a:r>
              <a:rPr i="1" lang="en-GB" sz="1100">
                <a:solidFill>
                  <a:srgbClr val="C96643"/>
                </a:solidFill>
              </a:rPr>
              <a:t>B</a:t>
            </a:r>
            <a:r>
              <a:rPr b="0" i="1" lang="en-GB" sz="11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1" lang="en-GB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vincolo di uguaglianza (N = 20)</a:t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777240" y="5550408"/>
            <a:ext cx="10652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La traiettoria parte da (2.3 A, −13.5 V), resta sempre dentro l'insieme ammissibile e converge all'equilibrio (0.389 A, −16 V) con andamenti quasi sovrapponibili nelle due varianti.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Risultati - Caso nominale nel tempo</a:t>
            </a:r>
            <a:endParaRPr/>
          </a:p>
        </p:txBody>
      </p:sp>
      <p:pic>
        <p:nvPicPr>
          <p:cNvPr descr="4.png"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4188" y="1234439"/>
            <a:ext cx="5397441" cy="466343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607175" y="1564000"/>
            <a:ext cx="5198400" cy="31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Cosa si osserva (N = 20)</a:t>
            </a:r>
            <a:endParaRPr sz="1600">
              <a:solidFill>
                <a:srgbClr val="1B3A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1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Assestamento in ≈ 15 ms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(una ventina di passi di campionamento).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1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Nessuna violazione dei vincoli: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b="0" baseline="-2500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e vₒ restano nelle bande rosse</a:t>
            </a:r>
            <a:r>
              <a:rPr lang="en-GB">
                <a:solidFill>
                  <a:srgbClr val="222222"/>
                </a:solidFill>
              </a:rPr>
              <a:t>,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vₒ parte vicino al limite di −13 V e se ne allontana subito.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1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Sforzo di controllo contenuto: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il duty cycle scende a ≈ 0.42 nei primi passi e rientra dolcemente sul valore di equilibrio 0.516.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1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QP sempre fattibile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a ogni passo (exitflag = 1 per tutti i 60 passi).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1 - Ingredienti terminali </a:t>
            </a:r>
            <a:endParaRPr/>
          </a:p>
        </p:txBody>
      </p:sp>
      <p:pic>
        <p:nvPicPr>
          <p:cNvPr descr="4.png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6" y="1227243"/>
            <a:ext cx="4833588" cy="3291840"/>
          </a:xfrm>
          <a:prstGeom prst="rect">
            <a:avLst/>
          </a:prstGeom>
          <a:noFill/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" name="Google Shape;181;p10"/>
          <p:cNvSpPr txBox="1"/>
          <p:nvPr/>
        </p:nvSpPr>
        <p:spPr>
          <a:xfrm>
            <a:off x="777240" y="4690872"/>
            <a:ext cx="502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Vincolo di </a:t>
            </a:r>
            <a:r>
              <a:rPr i="1" lang="en-GB" sz="1100">
                <a:solidFill>
                  <a:schemeClr val="dk2"/>
                </a:solidFill>
              </a:rPr>
              <a:t>dis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uaglianza (A)</a:t>
            </a: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, N = 20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6309360" y="4690872"/>
            <a:ext cx="502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C96643"/>
                </a:solidFill>
              </a:rPr>
              <a:t>Vincolo di uguaglianza (B)</a:t>
            </a:r>
            <a:r>
              <a:rPr i="1" lang="en-GB" sz="1100">
                <a:solidFill>
                  <a:srgbClr val="C96643"/>
                </a:solidFill>
              </a:rPr>
              <a:t>, </a:t>
            </a:r>
            <a:r>
              <a:rPr i="1" lang="en-GB" sz="1100">
                <a:solidFill>
                  <a:srgbClr val="5A6572"/>
                </a:solidFill>
              </a:rPr>
              <a:t>N </a:t>
            </a:r>
            <a:r>
              <a:rPr lang="en-GB" sz="1100">
                <a:solidFill>
                  <a:srgbClr val="5A6572"/>
                </a:solidFill>
              </a:rPr>
              <a:t>= 20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799772" y="5004322"/>
            <a:ext cx="106527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 N = 20 le risposte in anello chiuso sono </a:t>
            </a:r>
            <a:r>
              <a:rPr b="1" i="0" lang="en-GB" sz="14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praticamente indistinguibili </a:t>
            </a:r>
            <a:r>
              <a:rPr lang="en-GB">
                <a:solidFill>
                  <a:schemeClr val="dk1"/>
                </a:solidFill>
              </a:rPr>
              <a:t>considerando il caso baseline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l'orizzonte è lungo rispetto alla dinamica e la condizione terminale è poco restrittiva.</a:t>
            </a:r>
            <a:endParaRPr/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La differenza è nella </a:t>
            </a:r>
            <a:r>
              <a:rPr b="1" i="0" lang="en-GB" sz="14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fattibilità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il vincolo di uguaglianza richiede N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sufficiente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a raggiungere l'origine; il terminal set ampio (CIS) mantiene il problema fattibile anche con orizzonti molto corti.</a:t>
            </a:r>
            <a:endParaRPr/>
          </a:p>
        </p:txBody>
      </p:sp>
      <p:pic>
        <p:nvPicPr>
          <p:cNvPr descr="4.pn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058" y="1300393"/>
            <a:ext cx="4833588" cy="3291840"/>
          </a:xfrm>
          <a:prstGeom prst="rect">
            <a:avLst/>
          </a:prstGeom>
          <a:noFill/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2 - Peso Q e R del costo</a:t>
            </a:r>
            <a:endParaRPr/>
          </a:p>
        </p:txBody>
      </p:sp>
      <p:pic>
        <p:nvPicPr>
          <p:cNvPr descr="4.png"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385" y="1092869"/>
            <a:ext cx="3809959" cy="3291840"/>
          </a:xfrm>
          <a:prstGeom prst="rect">
            <a:avLst/>
          </a:prstGeom>
          <a:noFill/>
          <a:ln cap="flat" cmpd="sng" w="12700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11"/>
          <p:cNvSpPr txBox="1"/>
          <p:nvPr/>
        </p:nvSpPr>
        <p:spPr>
          <a:xfrm>
            <a:off x="2019374" y="4572000"/>
            <a:ext cx="80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Q = 10000·I, R = 1 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(variante </a:t>
            </a:r>
            <a:r>
              <a:rPr i="1" lang="en-GB" sz="1100">
                <a:solidFill>
                  <a:schemeClr val="dk2"/>
                </a:solidFill>
              </a:rPr>
              <a:t>A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769615" y="4950565"/>
            <a:ext cx="10652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Aumentare Q (</a:t>
            </a:r>
            <a:r>
              <a:rPr lang="en-GB">
                <a:solidFill>
                  <a:srgbClr val="222222"/>
                </a:solidFill>
              </a:rPr>
              <a:t>×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1, ×100, ×10000) tendo fissa R a </a:t>
            </a:r>
            <a:r>
              <a:rPr lang="en-GB">
                <a:solidFill>
                  <a:srgbClr val="222222"/>
                </a:solidFill>
              </a:rPr>
              <a:t>1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non cambia la risposta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il costo è già dominato dallo stato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>
                <a:solidFill>
                  <a:srgbClr val="C96643"/>
                </a:solidFill>
              </a:rPr>
              <a:t>▪  </a:t>
            </a:r>
            <a:r>
              <a:rPr lang="en-GB">
                <a:solidFill>
                  <a:srgbClr val="222222"/>
                </a:solidFill>
              </a:rPr>
              <a:t>Si ottengono gli stessi risultati nel caso di uguaglianza </a:t>
            </a:r>
            <a:r>
              <a:rPr lang="en-GB">
                <a:solidFill>
                  <a:srgbClr val="C96643"/>
                </a:solidFill>
              </a:rPr>
              <a:t>(variante B)</a:t>
            </a:r>
            <a:r>
              <a:rPr lang="en-GB">
                <a:solidFill>
                  <a:srgbClr val="222222"/>
                </a:solidFill>
              </a:rPr>
              <a:t>.</a:t>
            </a:r>
            <a:endParaRPr>
              <a:solidFill>
                <a:srgbClr val="222222"/>
              </a:solidFill>
            </a:endParaRPr>
          </a:p>
        </p:txBody>
      </p:sp>
      <p:pic>
        <p:nvPicPr>
          <p:cNvPr id="193" name="Google Shape;1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4844" y="1072398"/>
            <a:ext cx="3855070" cy="333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f54f881237_1_72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4850" y="1092900"/>
            <a:ext cx="3855074" cy="333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f54f881237_1_72" title="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9375" y="1092900"/>
            <a:ext cx="3809976" cy="329180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54f881237_1_72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2 - Peso Q e R del costo</a:t>
            </a:r>
            <a:endParaRPr/>
          </a:p>
        </p:txBody>
      </p:sp>
      <p:sp>
        <p:nvSpPr>
          <p:cNvPr id="201" name="Google Shape;201;g3f54f881237_1_72"/>
          <p:cNvSpPr txBox="1"/>
          <p:nvPr/>
        </p:nvSpPr>
        <p:spPr>
          <a:xfrm>
            <a:off x="769615" y="4950565"/>
            <a:ext cx="10652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Aumentare </a:t>
            </a:r>
            <a:r>
              <a:rPr lang="en-GB">
                <a:solidFill>
                  <a:srgbClr val="222222"/>
                </a:solidFill>
              </a:rPr>
              <a:t>R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solidFill>
                  <a:srgbClr val="222222"/>
                </a:solidFill>
              </a:rPr>
              <a:t>= 100,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tenendo fissa </a:t>
            </a:r>
            <a:r>
              <a:rPr lang="en-GB">
                <a:solidFill>
                  <a:srgbClr val="222222"/>
                </a:solidFill>
              </a:rPr>
              <a:t>Q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GB">
                <a:solidFill>
                  <a:srgbClr val="222222"/>
                </a:solidFill>
              </a:rPr>
              <a:t>I</a:t>
            </a:r>
            <a:r>
              <a:rPr lang="en-GB">
                <a:solidFill>
                  <a:srgbClr val="222222"/>
                </a:solidFill>
              </a:rPr>
              <a:t>,</a:t>
            </a:r>
            <a:r>
              <a:rPr b="1" i="0" lang="en-GB" sz="14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 cambia la risposta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>
                <a:solidFill>
                  <a:srgbClr val="222222"/>
                </a:solidFill>
              </a:rPr>
              <a:t>il sistema si muove più dolcemente nel tempo e il CIS è più grande.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202" name="Google Shape;202;g3f54f881237_1_72"/>
          <p:cNvSpPr txBox="1"/>
          <p:nvPr/>
        </p:nvSpPr>
        <p:spPr>
          <a:xfrm>
            <a:off x="2080449" y="4572000"/>
            <a:ext cx="80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Q = I, R = 100 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(variante </a:t>
            </a:r>
            <a:r>
              <a:rPr i="1" lang="en-GB" sz="1100">
                <a:solidFill>
                  <a:schemeClr val="dk2"/>
                </a:solidFill>
              </a:rPr>
              <a:t>A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f54f881237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4850" y="1042475"/>
            <a:ext cx="3855074" cy="3332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.png" id="208" name="Google Shape;208;g3f54f881237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6700" y="1042475"/>
            <a:ext cx="3855076" cy="3330814"/>
          </a:xfrm>
          <a:prstGeom prst="rect">
            <a:avLst/>
          </a:prstGeom>
          <a:noFill/>
          <a:ln cap="flat" cmpd="sng" w="11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" name="Google Shape;209;g3f54f881237_0_81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2 - Peso Q e R del costo</a:t>
            </a:r>
            <a:endParaRPr/>
          </a:p>
        </p:txBody>
      </p:sp>
      <p:sp>
        <p:nvSpPr>
          <p:cNvPr id="210" name="Google Shape;210;g3f54f881237_0_81"/>
          <p:cNvSpPr txBox="1"/>
          <p:nvPr/>
        </p:nvSpPr>
        <p:spPr>
          <a:xfrm>
            <a:off x="769615" y="4950565"/>
            <a:ext cx="106527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</a:rPr>
              <a:t>▪  </a:t>
            </a:r>
            <a:r>
              <a:rPr lang="en-GB">
                <a:solidFill>
                  <a:srgbClr val="222222"/>
                </a:solidFill>
              </a:rPr>
              <a:t>Aumentare R = 10000, tenendo fissa Q a I, penalizza le variazioni di duty cycle: il controllo diventa </a:t>
            </a:r>
            <a:r>
              <a:rPr b="1" lang="en-GB">
                <a:solidFill>
                  <a:srgbClr val="C96643"/>
                </a:solidFill>
              </a:rPr>
              <a:t>lento e oscillante</a:t>
            </a:r>
            <a:r>
              <a:rPr lang="en-GB">
                <a:solidFill>
                  <a:srgbClr val="222222"/>
                </a:solidFill>
              </a:rPr>
              <a:t>, con sottoelongazione di vₒ fino a ≈ −17.5 V e convergenza oltre la finestra di 39 ms.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211" name="Google Shape;211;g3f54f881237_0_81"/>
          <p:cNvSpPr txBox="1"/>
          <p:nvPr/>
        </p:nvSpPr>
        <p:spPr>
          <a:xfrm>
            <a:off x="2095649" y="4577337"/>
            <a:ext cx="80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Q = I, R = 10000 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(variante </a:t>
            </a:r>
            <a:r>
              <a:rPr i="1" lang="en-GB" sz="1100">
                <a:solidFill>
                  <a:schemeClr val="dk2"/>
                </a:solidFill>
              </a:rPr>
              <a:t>A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54f881237_0_105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2 - Peso Q e R del costo</a:t>
            </a:r>
            <a:endParaRPr/>
          </a:p>
        </p:txBody>
      </p:sp>
      <p:sp>
        <p:nvSpPr>
          <p:cNvPr id="217" name="Google Shape;217;g3f54f881237_0_105"/>
          <p:cNvSpPr txBox="1"/>
          <p:nvPr/>
        </p:nvSpPr>
        <p:spPr>
          <a:xfrm>
            <a:off x="769615" y="4950565"/>
            <a:ext cx="106527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</a:rPr>
              <a:t>▪  </a:t>
            </a:r>
            <a:r>
              <a:rPr lang="en-GB">
                <a:solidFill>
                  <a:srgbClr val="222222"/>
                </a:solidFill>
              </a:rPr>
              <a:t>Nel caso di uguaglianza </a:t>
            </a:r>
            <a:r>
              <a:rPr lang="en-GB">
                <a:solidFill>
                  <a:srgbClr val="C96643"/>
                </a:solidFill>
              </a:rPr>
              <a:t>(variante B)</a:t>
            </a:r>
            <a:r>
              <a:rPr lang="en-GB">
                <a:solidFill>
                  <a:schemeClr val="dk1"/>
                </a:solidFill>
              </a:rPr>
              <a:t>,</a:t>
            </a:r>
            <a:r>
              <a:rPr lang="en-GB">
                <a:solidFill>
                  <a:srgbClr val="222222"/>
                </a:solidFill>
              </a:rPr>
              <a:t> a</a:t>
            </a:r>
            <a:r>
              <a:rPr lang="en-GB">
                <a:solidFill>
                  <a:srgbClr val="222222"/>
                </a:solidFill>
              </a:rPr>
              <a:t>umentare R = 10000, tenendo fissa Q a I, ha risultati simili al caso di disuguaglianza, ma la sottoelongazione di vₒ arriva fino a ≈ −16.5 V (invece che −17.5V).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  <p:pic>
        <p:nvPicPr>
          <p:cNvPr id="218" name="Google Shape;218;g3f54f881237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975" y="1183175"/>
            <a:ext cx="4380974" cy="298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54f881237_0_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025" y="1191575"/>
            <a:ext cx="4380975" cy="296522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f54f881237_0_105"/>
          <p:cNvSpPr txBox="1"/>
          <p:nvPr/>
        </p:nvSpPr>
        <p:spPr>
          <a:xfrm>
            <a:off x="1519975" y="4317700"/>
            <a:ext cx="9015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>
                <a:solidFill>
                  <a:srgbClr val="5A6572"/>
                </a:solidFill>
                <a:latin typeface="Arial"/>
                <a:ea typeface="Arial"/>
                <a:cs typeface="Arial"/>
                <a:sym typeface="Arial"/>
              </a:rPr>
              <a:t>Q = I, R = 10000 </a:t>
            </a:r>
            <a:r>
              <a:rPr b="0" i="1" lang="en-GB" sz="11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(variante </a:t>
            </a:r>
            <a:r>
              <a:rPr i="1" lang="en-GB" sz="1100">
                <a:solidFill>
                  <a:srgbClr val="C96643"/>
                </a:solidFill>
              </a:rPr>
              <a:t>B</a:t>
            </a:r>
            <a:r>
              <a:rPr b="0" i="1" lang="en-GB" sz="11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C9664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54f881237_1_88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3 - Orizzonte N</a:t>
            </a:r>
            <a:endParaRPr/>
          </a:p>
        </p:txBody>
      </p:sp>
      <p:sp>
        <p:nvSpPr>
          <p:cNvPr id="226" name="Google Shape;226;g3f54f881237_1_88"/>
          <p:cNvSpPr txBox="1"/>
          <p:nvPr/>
        </p:nvSpPr>
        <p:spPr>
          <a:xfrm>
            <a:off x="2080449" y="4572000"/>
            <a:ext cx="80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A6572"/>
                </a:solidFill>
              </a:rPr>
              <a:t>Caso default con N = 1 e N = 100 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(variante </a:t>
            </a:r>
            <a:r>
              <a:rPr i="1" lang="en-GB" sz="1100">
                <a:solidFill>
                  <a:schemeClr val="dk2"/>
                </a:solidFill>
              </a:rPr>
              <a:t>A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27" name="Google Shape;227;g3f54f881237_1_88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300" y="1235953"/>
            <a:ext cx="3809974" cy="3293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f54f881237_1_88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1175" y="1235950"/>
            <a:ext cx="3809974" cy="3293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54f881237_1_88"/>
          <p:cNvSpPr txBox="1"/>
          <p:nvPr/>
        </p:nvSpPr>
        <p:spPr>
          <a:xfrm>
            <a:off x="777250" y="5031900"/>
            <a:ext cx="108801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lang="en-GB">
                <a:solidFill>
                  <a:srgbClr val="222222"/>
                </a:solidFill>
              </a:rPr>
              <a:t>L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risposta nel tempo è </a:t>
            </a:r>
            <a:r>
              <a:rPr b="1" i="0" lang="en-GB" sz="1400">
                <a:solidFill>
                  <a:srgbClr val="1B3A5F"/>
                </a:solidFill>
                <a:latin typeface="Arial"/>
                <a:ea typeface="Arial"/>
                <a:cs typeface="Arial"/>
                <a:sym typeface="Arial"/>
              </a:rPr>
              <a:t>identica </a:t>
            </a:r>
            <a:r>
              <a:rPr i="0" lang="en-GB" sz="1400">
                <a:solidFill>
                  <a:srgbClr val="1B3A5F"/>
                </a:solidFill>
              </a:rPr>
              <a:t>per N = 1, 20, 100</a:t>
            </a:r>
            <a:r>
              <a:rPr lang="en-GB">
                <a:solidFill>
                  <a:srgbClr val="222222"/>
                </a:solidFill>
              </a:rPr>
              <a:t>, 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il CIS </a:t>
            </a:r>
            <a:r>
              <a:rPr lang="en-GB">
                <a:solidFill>
                  <a:srgbClr val="222222"/>
                </a:solidFill>
              </a:rPr>
              <a:t>ha stessa ampiezza</a:t>
            </a:r>
            <a:r>
              <a:rPr b="0" i="0" lang="en-GB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>
                <a:solidFill>
                  <a:srgbClr val="222222"/>
                </a:solidFill>
              </a:rPr>
              <a:t>ma </a:t>
            </a:r>
            <a:r>
              <a:rPr b="1" lang="en-GB">
                <a:solidFill>
                  <a:srgbClr val="C96643"/>
                </a:solidFill>
              </a:rPr>
              <a:t>cambia dimensione </a:t>
            </a:r>
            <a:r>
              <a:rPr lang="en-GB">
                <a:solidFill>
                  <a:srgbClr val="222222"/>
                </a:solidFill>
              </a:rPr>
              <a:t>il N-step controllable set (da circa N = 15 anche questa differenza diventa minima).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54f881237_1_99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3 - Orizzonte N</a:t>
            </a:r>
            <a:endParaRPr/>
          </a:p>
        </p:txBody>
      </p:sp>
      <p:sp>
        <p:nvSpPr>
          <p:cNvPr id="235" name="Google Shape;235;g3f54f881237_1_99"/>
          <p:cNvSpPr txBox="1"/>
          <p:nvPr/>
        </p:nvSpPr>
        <p:spPr>
          <a:xfrm>
            <a:off x="2095649" y="4402812"/>
            <a:ext cx="80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A6572"/>
                </a:solidFill>
              </a:rPr>
              <a:t>Caso default con N = 16 e N = 100 </a:t>
            </a:r>
            <a:r>
              <a:rPr b="0" i="1" lang="en-GB" sz="11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(variante </a:t>
            </a:r>
            <a:r>
              <a:rPr i="1" lang="en-GB" sz="1100">
                <a:solidFill>
                  <a:srgbClr val="C96643"/>
                </a:solidFill>
              </a:rPr>
              <a:t>B</a:t>
            </a:r>
            <a:r>
              <a:rPr b="0" i="1" lang="en-GB" sz="1100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C96643"/>
              </a:solidFill>
            </a:endParaRPr>
          </a:p>
        </p:txBody>
      </p:sp>
      <p:sp>
        <p:nvSpPr>
          <p:cNvPr id="236" name="Google Shape;236;g3f54f881237_1_99"/>
          <p:cNvSpPr txBox="1"/>
          <p:nvPr/>
        </p:nvSpPr>
        <p:spPr>
          <a:xfrm>
            <a:off x="777250" y="4971425"/>
            <a:ext cx="108801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>
                <a:solidFill>
                  <a:srgbClr val="C96643"/>
                </a:solidFill>
              </a:rPr>
              <a:t>▪  </a:t>
            </a:r>
            <a:r>
              <a:rPr lang="en-GB">
                <a:solidFill>
                  <a:srgbClr val="222222"/>
                </a:solidFill>
              </a:rPr>
              <a:t>Nel caso di uguaglianza </a:t>
            </a:r>
            <a:r>
              <a:rPr lang="en-GB">
                <a:solidFill>
                  <a:srgbClr val="C96643"/>
                </a:solidFill>
              </a:rPr>
              <a:t>(variante B)</a:t>
            </a:r>
            <a:r>
              <a:rPr lang="en-GB">
                <a:solidFill>
                  <a:srgbClr val="222222"/>
                </a:solidFill>
              </a:rPr>
              <a:t>, N incide solo sulla </a:t>
            </a:r>
            <a:r>
              <a:rPr b="1" lang="en-GB">
                <a:solidFill>
                  <a:srgbClr val="1B3A5F"/>
                </a:solidFill>
              </a:rPr>
              <a:t>fattibilità</a:t>
            </a:r>
            <a:r>
              <a:rPr lang="en-GB">
                <a:solidFill>
                  <a:srgbClr val="222222"/>
                </a:solidFill>
              </a:rPr>
              <a:t>: serve un orizzonte sufficiente a portare lo stato esattamente all'origine (N = 16 è il minimo N fattibile).</a:t>
            </a:r>
            <a:endParaRPr/>
          </a:p>
        </p:txBody>
      </p:sp>
      <p:pic>
        <p:nvPicPr>
          <p:cNvPr id="237" name="Google Shape;237;g3f54f881237_1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625" y="1235950"/>
            <a:ext cx="4439649" cy="30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f54f881237_1_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9900" y="1235950"/>
            <a:ext cx="4439649" cy="30049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f54f881237_1_99"/>
          <p:cNvSpPr/>
          <p:nvPr/>
        </p:nvSpPr>
        <p:spPr>
          <a:xfrm rot="-1317172">
            <a:off x="5433525" y="1612757"/>
            <a:ext cx="400435" cy="227347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C9664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" name="Google Shape;240;g3f54f881237_1_99"/>
          <p:cNvSpPr/>
          <p:nvPr/>
        </p:nvSpPr>
        <p:spPr>
          <a:xfrm rot="-1317172">
            <a:off x="10633350" y="1612757"/>
            <a:ext cx="400435" cy="227347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C9664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4f881237_1_117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4 - Tempo di campionamento T</a:t>
            </a:r>
            <a:endParaRPr/>
          </a:p>
        </p:txBody>
      </p:sp>
      <p:sp>
        <p:nvSpPr>
          <p:cNvPr id="246" name="Google Shape;246;g3f54f881237_1_117"/>
          <p:cNvSpPr txBox="1"/>
          <p:nvPr/>
        </p:nvSpPr>
        <p:spPr>
          <a:xfrm>
            <a:off x="1697300" y="4601625"/>
            <a:ext cx="968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A6572"/>
                </a:solidFill>
              </a:rPr>
              <a:t>Caso default </a:t>
            </a:r>
            <a:r>
              <a:rPr i="1" lang="en-GB" sz="1100">
                <a:solidFill>
                  <a:srgbClr val="5A6572"/>
                </a:solidFill>
              </a:rPr>
              <a:t>6.5 ms (×10), asse dei tempi fino a 390 ms 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(variante </a:t>
            </a:r>
            <a:r>
              <a:rPr i="1" lang="en-GB" sz="1100">
                <a:solidFill>
                  <a:schemeClr val="dk2"/>
                </a:solidFill>
              </a:rPr>
              <a:t>A</a:t>
            </a:r>
            <a:r>
              <a:rPr b="0" i="1" lang="en-GB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7" name="Google Shape;247;g3f54f881237_1_117"/>
          <p:cNvSpPr txBox="1"/>
          <p:nvPr/>
        </p:nvSpPr>
        <p:spPr>
          <a:xfrm>
            <a:off x="777250" y="5000550"/>
            <a:ext cx="108801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</a:rPr>
              <a:t>▪  </a:t>
            </a:r>
            <a:r>
              <a:rPr lang="en-GB">
                <a:solidFill>
                  <a:srgbClr val="222222"/>
                </a:solidFill>
              </a:rPr>
              <a:t>Aumentando fino a T = 6.5 ms ogni mossa di controllo ha effetto maggiore.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222222"/>
                </a:solidFill>
              </a:rPr>
              <a:t>Compaiono </a:t>
            </a:r>
            <a:r>
              <a:rPr b="1" lang="en-GB">
                <a:solidFill>
                  <a:srgbClr val="C96643"/>
                </a:solidFill>
              </a:rPr>
              <a:t>sottoelongazioni</a:t>
            </a:r>
            <a:r>
              <a:rPr lang="en-GB">
                <a:solidFill>
                  <a:srgbClr val="222222"/>
                </a:solidFill>
              </a:rPr>
              <a:t> su entrambi gli stati (vₒ scende fino a ≈ −17 V, iL sfiora 0 A).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222222"/>
                </a:solidFill>
              </a:rPr>
              <a:t>La convergenza richiede ≈ 40 ms di tempo reale (contro ≈ 15 ms precedenti), campionare più lentamente </a:t>
            </a:r>
            <a:r>
              <a:rPr b="1" lang="en-GB">
                <a:solidFill>
                  <a:schemeClr val="dk2"/>
                </a:solidFill>
              </a:rPr>
              <a:t>peggiora le prestazioni</a:t>
            </a:r>
            <a:r>
              <a:rPr lang="en-GB">
                <a:solidFill>
                  <a:srgbClr val="222222"/>
                </a:solidFill>
              </a:rPr>
              <a:t> pur riducendo il carico computazionale.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C96643"/>
                </a:solidFill>
              </a:rPr>
              <a:t>▪  </a:t>
            </a:r>
            <a:r>
              <a:rPr lang="en-GB">
                <a:solidFill>
                  <a:schemeClr val="dk1"/>
                </a:solidFill>
              </a:rPr>
              <a:t>T troppo elevato riduce la frequenza di aggiornamento e degrada il modello discreto, rendendo il problema infeasible (circa a 65 ms).</a:t>
            </a:r>
            <a:endParaRPr>
              <a:solidFill>
                <a:srgbClr val="222222"/>
              </a:solidFill>
            </a:endParaRPr>
          </a:p>
        </p:txBody>
      </p:sp>
      <p:pic>
        <p:nvPicPr>
          <p:cNvPr id="248" name="Google Shape;248;g3f54f881237_1_117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300" y="1153999"/>
            <a:ext cx="3809976" cy="329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f54f881237_1_117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1175" y="1235950"/>
            <a:ext cx="3807714" cy="329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54f881237_0_125"/>
          <p:cNvSpPr txBox="1"/>
          <p:nvPr>
            <p:ph type="title"/>
          </p:nvPr>
        </p:nvSpPr>
        <p:spPr>
          <a:xfrm>
            <a:off x="777240" y="384048"/>
            <a:ext cx="106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Confronto 4 - Tempo di campionamento T</a:t>
            </a:r>
            <a:endParaRPr sz="2800">
              <a:solidFill>
                <a:srgbClr val="22222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5" name="Google Shape;255;g3f54f881237_0_125"/>
          <p:cNvSpPr txBox="1"/>
          <p:nvPr/>
        </p:nvSpPr>
        <p:spPr>
          <a:xfrm>
            <a:off x="1697300" y="4648175"/>
            <a:ext cx="9440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GB" sz="1100">
                <a:solidFill>
                  <a:srgbClr val="5A6572"/>
                </a:solidFill>
              </a:rPr>
              <a:t>Caso default 6.5 ms (×10), asse dei tempi fino a 390 ms </a:t>
            </a:r>
            <a:r>
              <a:rPr i="1" lang="en-GB" sz="1100">
                <a:solidFill>
                  <a:srgbClr val="C96643"/>
                </a:solidFill>
              </a:rPr>
              <a:t>(variante B)</a:t>
            </a:r>
            <a:endParaRPr>
              <a:solidFill>
                <a:srgbClr val="C96643"/>
              </a:solidFill>
            </a:endParaRPr>
          </a:p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5A6572"/>
              </a:solidFill>
            </a:endParaRPr>
          </a:p>
        </p:txBody>
      </p:sp>
      <p:pic>
        <p:nvPicPr>
          <p:cNvPr id="256" name="Google Shape;256;g3f54f881237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975" y="1235950"/>
            <a:ext cx="4866415" cy="329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.png" id="257" name="Google Shape;257;g3f54f881237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7300" y="1235951"/>
            <a:ext cx="3744384" cy="323515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8" name="Google Shape;258;g3f54f881237_0_125"/>
          <p:cNvSpPr txBox="1"/>
          <p:nvPr/>
        </p:nvSpPr>
        <p:spPr>
          <a:xfrm>
            <a:off x="655050" y="5071550"/>
            <a:ext cx="108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</a:rPr>
              <a:t>▪  </a:t>
            </a:r>
            <a:r>
              <a:rPr lang="en-GB">
                <a:solidFill>
                  <a:srgbClr val="222222"/>
                </a:solidFill>
              </a:rPr>
              <a:t>Situazione identica con il vincolo di uguaglianza </a:t>
            </a:r>
            <a:r>
              <a:rPr lang="en-GB">
                <a:solidFill>
                  <a:srgbClr val="C96643"/>
                </a:solidFill>
              </a:rPr>
              <a:t>(variante B)</a:t>
            </a:r>
            <a:r>
              <a:rPr lang="en-GB">
                <a:solidFill>
                  <a:srgbClr val="222222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 txBox="1"/>
          <p:nvPr>
            <p:ph type="title"/>
          </p:nvPr>
        </p:nvSpPr>
        <p:spPr>
          <a:xfrm>
            <a:off x="777240" y="384048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Arial Black"/>
                <a:ea typeface="Arial Black"/>
                <a:cs typeface="Arial Black"/>
                <a:sym typeface="Arial Black"/>
              </a:rPr>
              <a:t>Conclusioni</a:t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510775" y="1039100"/>
            <a:ext cx="10607100" cy="4737900"/>
          </a:xfrm>
          <a:prstGeom prst="roundRect">
            <a:avLst>
              <a:gd fmla="val 5500" name="adj"/>
            </a:avLst>
          </a:prstGeom>
          <a:solidFill>
            <a:srgbClr val="F2F5F9"/>
          </a:solidFill>
          <a:ln cap="flat" cmpd="sng" w="9525">
            <a:solidFill>
              <a:srgbClr val="D5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292600" spcFirstLastPara="1" rIns="292600" wrap="square" tIns="2743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>
                <a:solidFill>
                  <a:schemeClr val="dk2"/>
                </a:solidFill>
              </a:rPr>
              <a:t>In sintesi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777250" y="2029425"/>
            <a:ext cx="9819300" cy="3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Entrambe le varianti di MPC lineare portano il boost converter all'equilibrio in ≈ 15 ms </a:t>
            </a:r>
            <a:r>
              <a:rPr i="0" lang="en-GB">
                <a:solidFill>
                  <a:schemeClr val="dk1"/>
                </a:solidFill>
              </a:rPr>
              <a:t>senza mai violare i vincoli</a:t>
            </a:r>
            <a:r>
              <a:rPr b="0" i="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 stati e ingresso, pur partendo vicino al limite di tensione.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1" i="0" lang="en-GB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Ingredienti terminali:</a:t>
            </a:r>
            <a:r>
              <a:rPr b="1" i="0"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CIS garantisce fattibilità anche con N = 1, mentre il vincolo di uguaglianza richiede orizzonti più lunghi </a:t>
            </a:r>
            <a:r>
              <a:rPr lang="en-GB">
                <a:solidFill>
                  <a:schemeClr val="dk1"/>
                </a:solidFill>
              </a:rPr>
              <a:t>(</a:t>
            </a:r>
            <a:r>
              <a:rPr b="0" i="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&gt;</a:t>
            </a:r>
            <a:r>
              <a:rPr lang="en-GB">
                <a:solidFill>
                  <a:schemeClr val="dk1"/>
                </a:solidFill>
              </a:rPr>
              <a:t> 15)</a:t>
            </a:r>
            <a:r>
              <a:rPr b="0" i="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1" i="0" lang="en-GB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Pesi del costo:</a:t>
            </a:r>
            <a:r>
              <a:rPr i="0" lang="en-GB">
                <a:solidFill>
                  <a:schemeClr val="dk1"/>
                </a:solidFill>
              </a:rPr>
              <a:t> la leva efficace è R</a:t>
            </a:r>
            <a:r>
              <a:rPr lang="en-GB">
                <a:solidFill>
                  <a:schemeClr val="dk1"/>
                </a:solidFill>
              </a:rPr>
              <a:t>,</a:t>
            </a:r>
            <a:r>
              <a:rPr i="0" lang="en-GB">
                <a:solidFill>
                  <a:schemeClr val="dk1"/>
                </a:solidFill>
              </a:rPr>
              <a:t> Q ha effetto trascurabile per la limitata autorità dell'ingresso.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96643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1" i="0" lang="en-GB">
                <a:solidFill>
                  <a:srgbClr val="C96643"/>
                </a:solidFill>
              </a:rPr>
              <a:t>Tempo di campionamento:</a:t>
            </a:r>
            <a:r>
              <a:rPr b="1" i="0"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più lungo degrada la risposta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0" i="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assestamento più lento.</a:t>
            </a:r>
            <a:endParaRPr b="0" i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2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i="1" lang="en-GB" sz="12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Il controllore, progettato sul modello linearizzato, funziona correttamente sull'impianto non lineare simulato.</a:t>
            </a:r>
            <a:endParaRPr sz="12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5B6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2025-06-12T18:24:46Z</dcterms:created>
  <dc:creator>Gabriele Mazzoleni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LastSaved">
    <vt:filetime>2025-06-12T00:00:00Z</vt:filetime>
  </property>
  <property fmtid="{D5CDD505-2E9C-101B-9397-08002B2CF9AE}" pid="4" name="Producer">
    <vt:lpwstr>macOS Versione 15.3.1 (Build 24D70) Quartz PDFContext</vt:lpwstr>
  </property>
</Properties>
</file>